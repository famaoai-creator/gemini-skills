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2513" y="103327"/>
            <a:ext cx="8478317" cy="11859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demo: システム化計画策定 ～ 非機能要件 ～</a:t>
            </a:r>
            <a:endParaRPr lang="en-US" sz="3600" dirty="0"/>
          </a:p>
        </p:txBody>
      </p:sp>
      <p:pic>
        <p:nvPicPr>
          <p:cNvPr id="3" name="Image 0" descr="/Users/famaoai/gemini/skills/github/scratch/assets_1773052612736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21" y="2133295"/>
            <a:ext cx="5296205" cy="35213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maoai/gemini/skills/github/scratch/assets_1773052612736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481" y="1187806"/>
            <a:ext cx="3030322" cy="1864462"/>
          </a:xfrm>
          <a:prstGeom prst="rect">
            <a:avLst/>
          </a:prstGeom>
        </p:spPr>
      </p:pic>
      <p:pic>
        <p:nvPicPr>
          <p:cNvPr id="3" name="Image 1" descr="/Users/famaoai/gemini/skills/github/scratch/assets_1773052612736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481" y="3899916"/>
            <a:ext cx="3030322" cy="205648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637422" y="3164738"/>
            <a:ext cx="965606" cy="623621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demo: 目次</a:t>
            </a:r>
            <a:endParaRPr lang="en-US" sz="7200" dirty="0"/>
          </a:p>
        </p:txBody>
      </p:sp>
      <p:sp>
        <p:nvSpPr>
          <p:cNvPr id="6" name="Text 2"/>
          <p:cNvSpPr/>
          <p:nvPr/>
        </p:nvSpPr>
        <p:spPr>
          <a:xfrm>
            <a:off x="865937" y="992124"/>
            <a:ext cx="6430975" cy="57442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demo: 1. アプローチ概要 　　 1-1. 非機能要件 2. RFP 作成・評価 　　 2-1. RFP 作成・準備 　　 2-2. RFP 評価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1069848"/>
            <a:ext cx="11082528" cy="1196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非機能要件の整理にあたっては、評価軸を 体系的・網羅的 にするため、 「 JPA_ 非機能要求グレード 2018 」 の分類に従う。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demo: 1-1. アプローチ概要 ～ 非機能要件 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3</a:t>
            </a:r>
            <a:endParaRPr lang="en-US" sz="1800" dirty="0"/>
          </a:p>
        </p:txBody>
      </p:sp>
      <p:pic>
        <p:nvPicPr>
          <p:cNvPr id="5" name="Image 0" descr="/Users/famaoai/gemini/skills/github/scratch/assets_1773052612736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66544"/>
            <a:ext cx="5002682" cy="4415638"/>
          </a:xfrm>
          <a:prstGeom prst="rect">
            <a:avLst/>
          </a:prstGeom>
        </p:spPr>
      </p:pic>
      <p:pic>
        <p:nvPicPr>
          <p:cNvPr id="6" name="Image 1" descr="/Users/famaoai/gemini/skills/github/scratch/assets_1773052612736/imag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2066544"/>
            <a:ext cx="5002682" cy="38212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maoai/gemini/skills/github/scratch/assets_1773052612736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81" y="1926641"/>
            <a:ext cx="5002682" cy="44156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5937" y="1069848"/>
            <a:ext cx="11082528" cy="1196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各非機能要件は、「大項目」「中項目」「小項目」として ブレークダウン されており、 準備期間・準備コストに応じて、非機能要件の要求グレードを定義していく。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demo: 1-1. アプローチ概要 ～ 非機能要件 ～</a:t>
            </a:r>
            <a:endParaRPr lang="en-US" sz="3200" dirty="0"/>
          </a:p>
        </p:txBody>
      </p:sp>
      <p:pic>
        <p:nvPicPr>
          <p:cNvPr id="5" name="Image 1" descr="/Users/famaoai/gemini/skills/github/scratch/assets_1773052612736/image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029" y="2924251"/>
            <a:ext cx="8216798" cy="381213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907792" y="2646274"/>
            <a:ext cx="2978201" cy="23408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905963" y="2456078"/>
            <a:ext cx="2980030" cy="245059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911242" y="3245206"/>
            <a:ext cx="7193585" cy="1930298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911242" y="5175504"/>
            <a:ext cx="7193585" cy="155356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885993" y="2578608"/>
            <a:ext cx="2621585" cy="666598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headEnd type="arrow"/>
          </a:ln>
        </p:spPr>
      </p:sp>
      <p:sp>
        <p:nvSpPr>
          <p:cNvPr id="11" name="Text 7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4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117190" y="4159606"/>
            <a:ext cx="3072384" cy="514807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headEnd type="arrow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maoai/gemini/skills/github/scratch/assets_1773052612736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1945843"/>
            <a:ext cx="5885993" cy="32022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5937" y="1069848"/>
            <a:ext cx="11082528" cy="1196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「小項目」は、さらに 「メトリクス（指標）」 がいくつか用意されており、 準備期間・準備コストに応じて、非機能要件の要求グレードを定義していく。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demo: 1-1. アプローチ概要 ～ 非機能要件 ～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5</a:t>
            </a:r>
            <a:endParaRPr lang="en-US" sz="1800" dirty="0"/>
          </a:p>
        </p:txBody>
      </p:sp>
      <p:pic>
        <p:nvPicPr>
          <p:cNvPr id="6" name="Image 1" descr="/Users/famaoai/gemini/skills/github/scratch/assets_1773052612736/imag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229" y="5301691"/>
            <a:ext cx="7758684" cy="144200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71846" y="2742286"/>
            <a:ext cx="1623060" cy="503834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473245" y="3798418"/>
            <a:ext cx="2056486" cy="950976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headEnd type="arrow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1076249"/>
            <a:ext cx="11082528" cy="7808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「メトリクス（指標）」には、ものによっては予め「選択レベルの目安」が定義されており、 参考にしながら 「要求レベル」を設定 していく。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demo: 1-1. アプローチ概要 ～ 非機能要件 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6</a:t>
            </a:r>
            <a:endParaRPr lang="en-US" sz="1800" dirty="0"/>
          </a:p>
        </p:txBody>
      </p:sp>
      <p:pic>
        <p:nvPicPr>
          <p:cNvPr id="5" name="Image 0" descr="/Users/famaoai/gemini/skills/github/scratch/assets_1773052612736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9384"/>
            <a:ext cx="7758684" cy="144200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19579" y="2285086"/>
            <a:ext cx="6553505" cy="1087222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62042" y="2803550"/>
            <a:ext cx="497434" cy="1634033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headEnd type="arrow"/>
          </a:ln>
        </p:spPr>
      </p:sp>
      <p:pic>
        <p:nvPicPr>
          <p:cNvPr id="8" name="Image 1" descr="/Users/famaoai/gemini/skills/github/scratch/assets_1773052612736/image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69741"/>
            <a:ext cx="11027664" cy="13908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9945" y="5516575"/>
            <a:ext cx="11145622" cy="12234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demo: 例えば、人命にかかわるようなシステム（病院の救急車手配）なら、レベル 5 にするであったり 非グローバル企業の経費精算システムなら、レベル 2 にするであったり、 要求レベルを選択していく。（選択した要求レベルを、 RFP として記載をしていく）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demo: 目次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65937" y="992124"/>
            <a:ext cx="6430975" cy="57442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demo: 1. アプローチ概要 　　 1-1. 非機能要件 2. RFP 作成・評価 　　 2-1. RFP 作成・準備 　　 2-2. RFP 評価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demo: 2-1. RFP 作成・準備 ～ タスクの粒度 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37860" y="6549847"/>
            <a:ext cx="1596542" cy="149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5937" y="889711"/>
            <a:ext cx="11223346" cy="55659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demo: どの粒度で定義を行うかは、 「与えられた期間・コスト次第」「アサイン可能な要員の専門性次第」によって テーラリングが必要となる。 例 　「 1-2. アプローチ概要 ～ システム間連携： STEP2, STEP3  ～」の章の 　 IF 一覧（概要）を、後続フェーズの所管とする。 例 　システム間連携は、連携大きな連携方式のみを取り決める。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24458" y="5095037"/>
            <a:ext cx="11223346" cy="1647749"/>
          </a:xfrm>
          <a:prstGeom prst="rect">
            <a:avLst/>
          </a:prstGeom>
          <a:noFill/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2494" y="5193792"/>
          <a:ext cx="4105656" cy="1128370"/>
        </p:xfrm>
        <a:graphic>
          <a:graphicData uri="http://schemas.openxmlformats.org/drawingml/2006/table">
            <a:tbl>
              <a:tblPr/>
              <a:tblGrid>
                <a:gridCol w="2052828"/>
                <a:gridCol w="2052828"/>
              </a:tblGrid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連携方式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採用の可／不可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アプリケーション連携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ファイル連携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メッセージキューイング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リソース共有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不可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1001268"/>
            <a:ext cx="11082528" cy="6227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demo: 非機能要件は、業務領域の特性に応じて必要レベルが異なるものがある。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5937" y="1983334"/>
            <a:ext cx="11082528" cy="4602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demo: ◆例：個別設定 人事情報：セキュリティ要件を厳しくする必要がある。 BI ツール：性能要件を細かく設定する必要がある。 ◆例：全体共通 標準化のため、開発基盤や運用ツールなどは共通的に要件を定義するケースが多い。 　　　　　非機能要件項目は非常に多いため、 　　　　　業務領域ごとに定義・回答を行うと 　　　　　提案側も、 RFP の評価側も、不要な労力がかかる。 　　　　　 RFP は、共通の要求項目と、業務領域固有の要求項目をわけるのが望ましい。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demo: 2-1. RFP 作成・準備 ～ 全体の非機能要件と個別の非機能要件   ～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093622" y="5116068"/>
            <a:ext cx="952805" cy="652882"/>
          </a:xfrm>
          <a:prstGeom prst="rect">
            <a:avLst/>
          </a:prstGeom>
          <a:solidFill>
            <a:srgbClr val="0070C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889711"/>
            <a:ext cx="11082528" cy="20775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demo: 提案の評価をするにあたって、製品やサービスの評価などを行うケースがあるが、 「製品・サービスの機能」だけで評価を行うべきではないものもある。 場合によっては、以下のような判断も行う。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demo: 2-2. RFP 評価 ～ 選定評価   ～</a:t>
            </a:r>
            <a:endParaRPr lang="en-US" sz="4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6521" y="2967228"/>
          <a:ext cx="10927080" cy="2855671"/>
        </p:xfrm>
        <a:graphic>
          <a:graphicData uri="http://schemas.openxmlformats.org/drawingml/2006/table">
            <a:tbl>
              <a:tblPr/>
              <a:tblGrid>
                <a:gridCol w="2731770"/>
                <a:gridCol w="2731770"/>
                <a:gridCol w="2731770"/>
                <a:gridCol w="2731770"/>
              </a:tblGrid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検討結果例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重視観点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IaaS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機能の充実性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既に保有している基盤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導入コスト／ランニングコスト運用ノウハウ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SaaS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機能の充実性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採用が確定しているソリューションとの親和性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システム連携リスク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開発言語（スクラッチ開発部分）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生産性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自社のシステム部や発注先会社の技術者の経験スキル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実現リスク、技術者確保の容易性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95214" y="3456432"/>
            <a:ext cx="364846" cy="436169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7" name="Shape 4"/>
          <p:cNvSpPr/>
          <p:nvPr/>
        </p:nvSpPr>
        <p:spPr>
          <a:xfrm>
            <a:off x="5595214" y="4214470"/>
            <a:ext cx="364846" cy="436169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8" name="Shape 5"/>
          <p:cNvSpPr/>
          <p:nvPr/>
        </p:nvSpPr>
        <p:spPr>
          <a:xfrm>
            <a:off x="5595214" y="5043830"/>
            <a:ext cx="364846" cy="436169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9" name="Shape 6"/>
          <p:cNvSpPr/>
          <p:nvPr/>
        </p:nvSpPr>
        <p:spPr>
          <a:xfrm>
            <a:off x="5960059" y="3291840"/>
            <a:ext cx="2269541" cy="3254350"/>
          </a:xfrm>
          <a:prstGeom prst="rect">
            <a:avLst/>
          </a:prstGeom>
          <a:solidFill>
            <a:srgbClr val="FF0000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0468" y="5845759"/>
            <a:ext cx="2127809" cy="699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demo: 右側の観点を 重視する場合もある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demo: 資料位置付け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21715" y="3309214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demo: 改訂履歴</a:t>
            </a:r>
            <a:endParaRPr lang="en-US" sz="4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55141" y="3863340"/>
          <a:ext cx="10714025" cy="1586484"/>
        </p:xfrm>
        <a:graphic>
          <a:graphicData uri="http://schemas.openxmlformats.org/drawingml/2006/table">
            <a:tbl>
              <a:tblPr/>
              <a:tblGrid>
                <a:gridCol w="2142805"/>
                <a:gridCol w="2142805"/>
                <a:gridCol w="2142805"/>
                <a:gridCol w="2142805"/>
                <a:gridCol w="2142805"/>
              </a:tblGrid>
              <a:tr h="528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版数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改訂者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改定時期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改定内容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備考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初版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355141" y="1292047"/>
            <a:ext cx="6727241" cy="16962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demo: 商用利用可／二次利用可 ※ ただし表紙・目次の画像部を除く 出典元 　 Totally Deliver Minimum-service 　 Tech&amp;amp;Dev  Mechanism Institute.   技術開発メカニズム研究所</a:t>
            </a:r>
            <a:endParaRPr lang="en-US" sz="1600" dirty="0"/>
          </a:p>
        </p:txBody>
      </p:sp>
      <p:pic>
        <p:nvPicPr>
          <p:cNvPr id="7" name="Image 0" descr="/Users/famaoai/gemini/skills/github/scratch/assets_1773052612736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266" y="771754"/>
            <a:ext cx="1367028" cy="476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2026-03-09T10:36:56Z</dcterms:created>
  <dcterms:modified xsi:type="dcterms:W3CDTF">2026-03-09T10:36:56Z</dcterms:modified>
</cp:coreProperties>
</file>