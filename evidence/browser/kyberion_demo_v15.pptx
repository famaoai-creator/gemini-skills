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513" y="103327"/>
            <a:ext cx="8478317" cy="1185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demo: システム化計画策定</a:t>
            </a:r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～ 非機能要件 ～</a:t>
            </a:r>
            <a:endParaRPr lang="en-US" sz="4000" dirty="0"/>
          </a:p>
        </p:txBody>
      </p:sp>
      <p:pic>
        <p:nvPicPr>
          <p:cNvPr id="3" name="Image 0" descr="/Users/famaoai/gemini/skills/github/scratch/assets_1773053801708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9721" y="2133295"/>
            <a:ext cx="5296205" cy="3521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3801708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4481" y="1187806"/>
            <a:ext cx="3030322" cy="18644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4481" y="3899916"/>
            <a:ext cx="3030322" cy="20564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637422" y="3164738"/>
            <a:ext cx="965606" cy="623621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demo: 目次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demo: 1.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アプローチ概要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1-1.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非機能要件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作成・評価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2-1.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作成・準備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2-2.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評価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非機能要件の整理にあたっては、評価軸を</a:t>
            </a:r>
            <a:pPr algn="l" indent="0" marL="0">
              <a:buNone/>
            </a:pPr>
            <a:r>
              <a:rPr lang="en-US" sz="1800" b="1" dirty="0">
                <a:solidFill>
                  <a:srgbClr val="0000FF"/>
                </a:solidFill>
              </a:rPr>
              <a:t>体系的・網羅的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にするため、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「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JPA_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非機能要求グレード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2018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」 の分類に従う。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1-1.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アプローチ概要 ～ 非機能要件 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pic>
        <p:nvPicPr>
          <p:cNvPr id="5" name="Image 0" descr="/Users/famaoai/gemini/skills/github/scratch/assets_1773053801708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66544"/>
            <a:ext cx="5002682" cy="4415638"/>
          </a:xfrm>
          <a:prstGeom prst="rect">
            <a:avLst/>
          </a:prstGeom>
        </p:spPr>
      </p:pic>
      <p:pic>
        <p:nvPicPr>
          <p:cNvPr id="6" name="Image 1" descr="/Users/famaoai/gemini/skills/github/scratch/assets_1773053801708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902" y="2066544"/>
            <a:ext cx="5002682" cy="3821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3801708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1" y="1926641"/>
            <a:ext cx="5002682" cy="4415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各非機能要件は、「大項目」「中項目」「小項目」として</a:t>
            </a:r>
            <a:pPr algn="l" indent="0" marL="0">
              <a:buNone/>
            </a:pPr>
            <a:r>
              <a:rPr lang="en-US" sz="1800" b="1" dirty="0">
                <a:solidFill>
                  <a:srgbClr val="0000FF"/>
                </a:solidFill>
              </a:rPr>
              <a:t>ブレークダウン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されており、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1-1.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アプローチ概要 ～ 非機能要件 ～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88029" y="2924251"/>
            <a:ext cx="8216798" cy="3812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907792" y="2646274"/>
            <a:ext cx="2978201" cy="234086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05963" y="2456078"/>
            <a:ext cx="2980030" cy="245059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11242" y="3245206"/>
            <a:ext cx="7193585" cy="1930298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11242" y="5175504"/>
            <a:ext cx="7193585" cy="1553566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885993" y="2578608"/>
            <a:ext cx="2621585" cy="666598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117190" y="4159606"/>
            <a:ext cx="3072384" cy="51480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3801708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45843"/>
            <a:ext cx="5885993" cy="320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「小項目」は、さらに</a:t>
            </a:r>
            <a:pPr algn="l" indent="0" marL="0">
              <a:buNone/>
            </a:pPr>
            <a:r>
              <a:rPr lang="en-US" sz="1800" b="1" dirty="0">
                <a:solidFill>
                  <a:srgbClr val="0000FF"/>
                </a:solidFill>
              </a:rPr>
              <a:t>「メトリクス（指標）」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がいくつか用意されており、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1-1.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アプローチ概要 ～ 非機能要件 ～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345229" y="5301691"/>
            <a:ext cx="7758684" cy="1442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71846" y="2742286"/>
            <a:ext cx="1623060" cy="503834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473245" y="3798418"/>
            <a:ext cx="2056486" cy="950976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076249"/>
            <a:ext cx="11082528" cy="780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「メトリクス（指標）」には、ものによっては予め「選択レベルの目安」が定義されており、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参考にしながら</a:t>
            </a:r>
            <a:pPr algn="l" indent="0" marL="0">
              <a:buNone/>
            </a:pPr>
            <a:r>
              <a:rPr lang="en-US" sz="1800" b="1" dirty="0">
                <a:solidFill>
                  <a:srgbClr val="0000FF"/>
                </a:solidFill>
              </a:rPr>
              <a:t>「要求レベル」を設定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していく。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1-1.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アプローチ概要 ～ 非機能要件 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pic>
        <p:nvPicPr>
          <p:cNvPr id="5" name="Image 0" descr="/Users/famaoai/gemini/skills/github/scratch/assets_1773053801708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9384"/>
            <a:ext cx="7758684" cy="1442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19579" y="2285086"/>
            <a:ext cx="6553505" cy="1087222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362042" y="2803550"/>
            <a:ext cx="497434" cy="1634033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69741"/>
            <a:ext cx="11027664" cy="139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9945" y="5516575"/>
            <a:ext cx="11145622" cy="1223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例えば、人命にかかわるようなシステム（病院の救急車手配）なら、レベル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5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にするであったり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非グローバル企業の経費精算システムなら、レベル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にするであったり、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要求レベルを選択していく。（選択した要求レベルを、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RFP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として記載をしていく）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demo: 目次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A6A6"/>
                </a:solidFill>
              </a:rPr>
              <a:t>demo: 1.</a:t>
            </a:r>
            <a:pPr algn="l" indent="0" marL="0">
              <a:buNone/>
            </a:pPr>
            <a:r>
              <a:rPr lang="en-US" sz="2200" b="1" dirty="0">
                <a:solidFill>
                  <a:srgbClr val="A6A6A6"/>
                </a:solidFill>
              </a:rPr>
              <a:t>アプローチ概要</a:t>
            </a:r>
            <a:pPr algn="l" indent="0" marL="0">
              <a:buNone/>
            </a:pPr>
            <a:r>
              <a:rPr lang="en-US" sz="2200" b="1" dirty="0">
                <a:solidFill>
                  <a:srgbClr val="A6A6A6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A6A6A6"/>
                </a:solidFill>
              </a:rPr>
              <a:t>1-1.</a:t>
            </a:r>
            <a:pPr algn="l" indent="0" marL="0">
              <a:buNone/>
            </a:pPr>
            <a:r>
              <a:rPr lang="en-US" sz="2200" b="1" dirty="0">
                <a:solidFill>
                  <a:srgbClr val="A6A6A6"/>
                </a:solidFill>
              </a:rPr>
              <a:t>非機能要件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作成・評価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2-1.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作成・準備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2-2. 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評価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2-1. RFP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作成・準備 ～ タスクの粒度 ～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737860" y="6549847"/>
            <a:ext cx="1596542" cy="149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5937" y="889711"/>
            <a:ext cx="11223346" cy="55659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demo: どの粒度で定義を行うかは、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「与えられた期間・コスト次第」「アサイン可能な要員の専門性次第」によって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テーラリングが必要となる。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　「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1-2.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アプローチ概要 ～ システム間連携：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STEP2, STEP3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～」の章の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　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IF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一覧（概要）を、後続フェーズの所管とする。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　システム間連携は、連携大きな連携方式のみを取り決める。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24458" y="5095037"/>
            <a:ext cx="11223346" cy="1647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2494" y="5193792"/>
          <a:ext cx="4105656" cy="1128370"/>
        </p:xfrm>
        <a:graphic>
          <a:graphicData uri="http://schemas.openxmlformats.org/drawingml/2006/table">
            <a:tbl>
              <a:tblPr/>
              <a:tblGrid>
                <a:gridCol w="2052828"/>
                <a:gridCol w="2052828"/>
              </a:tblGrid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連携方式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採用の可／不可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アプリケーション連携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ファイル連携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メッセージキューイング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リソース共有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01268"/>
            <a:ext cx="11082528" cy="622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demo: 非機能要件は、業務領域の特性に応じて必要レベルが異なるものがある。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5937" y="1983334"/>
            <a:ext cx="11082528" cy="4602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demo: ◆例：個別設定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人事情報：セキュリティ要件を厳しくする必要がある。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BI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ツール：性能要件を細かく設定する必要がある。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◆例：全体共通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標準化のため、開発基盤や運用ツールなどは共通的に要件を定義するケースが多い。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　　　非機能要件項目は非常に多いため、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　　　業務領域ごとに定義・回答を行うと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　　　提案側も、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の評価側も、不要な労力がかかる。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　　　　　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RFP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は、共通の要求項目と、業務領域固有の要求項目をわけるのが望ましい。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2-1. RFP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作成・準備 ～ 全体の非機能要件と個別の非機能要件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3622" y="5116068"/>
            <a:ext cx="952805" cy="652882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889711"/>
            <a:ext cx="11082528" cy="20775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demo: 提案の評価をするにあたって、製品やサービスの評価などを行うケースがあるが、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「製品・サービスの機能」だけで評価を行うべきではないものもある。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場合によっては、以下のような判断も行う。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2-2. RFP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評価 ～ 選定評価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～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6521" y="2967228"/>
          <a:ext cx="10927080" cy="2855671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検討結果例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重視観点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既に保有している基盤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導入コスト／ランニングコスト運用ノウハウ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採用が確定しているソリューションとの親和性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システム連携リスク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開発言語（スクラッチ開発部分）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生産性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自社のシステム部や発注先会社の技術者の経験スキル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実現リスク、技術者確保の容易性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95214" y="3456432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95214" y="421447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95214" y="504383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60059" y="3291840"/>
            <a:ext cx="2269541" cy="32543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30468" y="5845759"/>
            <a:ext cx="2127809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FF"/>
                </a:solidFill>
              </a:rPr>
              <a:t>demo: 右側の観点を</a:t>
            </a:r>
            <a:pPr algn="l" indent="0" marL="0">
              <a:buNone/>
            </a:pPr>
            <a:r>
              <a:rPr lang="en-US" sz="1600" b="1" dirty="0">
                <a:solidFill>
                  <a:srgbClr val="0000FF"/>
                </a:solidFill>
              </a:rPr>
              <a:t>重視する場合もある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資料位置付け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1715" y="3309214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改訂履歴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5141" y="3863340"/>
          <a:ext cx="10714025" cy="1586484"/>
        </p:xfrm>
        <a:graphic>
          <a:graphicData uri="http://schemas.openxmlformats.org/drawingml/2006/table">
            <a:tbl>
              <a:tblPr/>
              <a:tblGrid>
                <a:gridCol w="2142805"/>
                <a:gridCol w="2142805"/>
                <a:gridCol w="2142805"/>
                <a:gridCol w="2142805"/>
                <a:gridCol w="2142805"/>
              </a:tblGrid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版数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改訂者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改定時期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改定内容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備考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初版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55141" y="1292047"/>
            <a:ext cx="6727241" cy="16962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demo: 商用利用可／二次利用可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※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ただし表紙・目次の画像部を除く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出典元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Totally Deliver Minimum-service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Tech&amp;amp;Dev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Mechanism Institute. 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技術開発メカニズム研究所</a:t>
            </a:r>
            <a:endParaRPr lang="en-US" sz="1600" dirty="0"/>
          </a:p>
        </p:txBody>
      </p:sp>
      <p:pic>
        <p:nvPicPr>
          <p:cNvPr id="7" name="Image 0" descr="/Users/famaoai/gemini/skills/github/scratch/assets_1773053801708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266" y="771754"/>
            <a:ext cx="1367028" cy="476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2026-03-09T10:56:45Z</dcterms:created>
  <dcterms:modified xsi:type="dcterms:W3CDTF">2026-03-09T10:56:45Z</dcterms:modified>
</cp:coreProperties>
</file>